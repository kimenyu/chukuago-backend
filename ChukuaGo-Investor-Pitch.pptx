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D4A843">
              <a:alpha val="7000"/>
            </a:srgbClr>
          </a:solidFill>
          <a:ln w="6350">
            <a:solidFill>
              <a:srgbClr val="D4A84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274320"/>
            <a:ext cx="4114800" cy="4114800"/>
          </a:xfrm>
          <a:prstGeom prst="ellipse">
            <a:avLst/>
          </a:prstGeom>
          <a:solidFill>
            <a:srgbClr val="D4A843">
              <a:alpha val="3000"/>
            </a:srgbClr>
          </a:solidFill>
          <a:ln w="6350">
            <a:solidFill>
              <a:srgbClr val="D4A843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484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ChukuaGo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Life's too short
</a:t>
            </a:r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run your own
</a:t>
            </a:r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errands.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errand marketplace — connecting busy people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KYC-verified local runners.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B9486"/>
                </a:solidFill>
              </a:rPr>
              <a:t>INVESTOR DECK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Nairobi runs on errands.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to run them.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26060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45720" cy="2606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 lost in traffic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907792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Nairobi professional loses 2–4 hours daily to traffic. Simple errands become half-day affairs.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783080"/>
            <a:ext cx="2606040" cy="26060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783080"/>
            <a:ext cx="45720" cy="2606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56432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accountability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907792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boda riders offer zero tracking, no proof of delivery, and no recourse when things go wrong.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06040" cy="26060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783080"/>
            <a:ext cx="45720" cy="2606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91072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Unsafe cash handoffs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907792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errands require handing cash to strangers with no platform record, no protection, no dispute system.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D4A843">
              <a:alpha val="10000"/>
            </a:srgbClr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0CC7A"/>
                </a:solidFill>
              </a:rPr>
              <a:t>TaskRabbit and similar platforms don't serve Kenya. Glovo covers food — not flexible, personal errands.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trust-first errand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for Kenya.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"/>
            <a:ext cx="1463040" cy="640080"/>
          </a:xfrm>
          <a:prstGeom prst="rect">
            <a:avLst/>
          </a:prstGeom>
          <a:solidFill>
            <a:srgbClr val="EAE5DA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0" y="457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</a:rPr>
              <a:t>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0" cy="45720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1554480"/>
            <a:ext cx="2011680" cy="6858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554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ChukuaGo 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240280"/>
            <a:ext cx="0" cy="45720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2697480"/>
            <a:ext cx="1463040" cy="640080"/>
          </a:xfrm>
          <a:prstGeom prst="rect">
            <a:avLst/>
          </a:prstGeom>
          <a:solidFill>
            <a:srgbClr val="EAE5DA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</a:rPr>
              <a:t>RUNNER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3520440"/>
            <a:ext cx="2377440" cy="502920"/>
          </a:xfrm>
          <a:prstGeom prst="rect">
            <a:avLst/>
          </a:prstGeom>
          <a:solidFill>
            <a:srgbClr val="D4A843">
              <a:alpha val="1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00"/>
                </a:solidFill>
              </a:rPr>
              <a:t>🔐 OTP Delivery Proof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1847088"/>
            <a:ext cx="365760" cy="365760"/>
          </a:xfrm>
          <a:prstGeom prst="ellipse">
            <a:avLst/>
          </a:prstGeom>
          <a:solidFill>
            <a:srgbClr val="D4A843">
              <a:alpha val="2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8653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&amp; discover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2402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6560"/>
                </a:solidFill>
              </a:rPr>
              <a:t>Clients post any errand in under 2 min. Verified runners nearby respond.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34640" y="173736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71800" y="1847088"/>
            <a:ext cx="365760" cy="365760"/>
          </a:xfrm>
          <a:prstGeom prst="ellipse">
            <a:avLst/>
          </a:prstGeom>
          <a:solidFill>
            <a:srgbClr val="D4A843">
              <a:alpha val="2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8653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OTP proof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22402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6560"/>
                </a:solidFill>
              </a:rPr>
              <a:t>Tamper-proof delivery confirmation via one-time code. Trust built in.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172968"/>
            <a:ext cx="365760" cy="365760"/>
          </a:xfrm>
          <a:prstGeom prst="ellipse">
            <a:avLst/>
          </a:prstGeom>
          <a:solidFill>
            <a:srgbClr val="D4A843">
              <a:alpha val="2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19125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chat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5661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6560"/>
                </a:solidFill>
              </a:rPr>
              <a:t>In-app messaging + status tracking for every errand, end to end.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34640" y="306324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71800" y="3172968"/>
            <a:ext cx="365760" cy="365760"/>
          </a:xfrm>
          <a:prstGeom prst="ellipse">
            <a:avLst/>
          </a:prstGeom>
          <a:solidFill>
            <a:srgbClr val="D4A843">
              <a:alpha val="2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19125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71800" y="35661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6560"/>
                </a:solidFill>
              </a:rPr>
              <a:t>Ratings and reviews that build runner credibility and client trust over time.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underserved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errand economy.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31920" cy="12344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013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Kenyans with smartphones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6243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6"/>
                </a:solidFill>
              </a:rPr>
              <a:t>Growing 12% YoY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931920" cy="12344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8013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8348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Informal delivery market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26243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6"/>
                </a:solidFill>
              </a:rPr>
              <a:t>Kenya gig economy est.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2344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186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Counties to serve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0416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6"/>
                </a:solidFill>
              </a:rPr>
              <a:t>Countrywide from day 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931920" cy="12344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2186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98348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Commission per errand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40416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6"/>
                </a:solidFill>
              </a:rPr>
              <a:t>Platform revenue share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86"/>
                </a:solidFill>
              </a:rPr>
              <a:t>Kenya's 2024 gig economy is estimated at ~$2–4B. Errand/delivery platforms capture 0.3% today.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steps. Two phones.</a:t>
            </a:r>
            <a:endParaRPr lang="en-US" sz="3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verified delivery.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240280" y="2286000"/>
            <a:ext cx="2286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320040" y="182880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9385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2331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" y="3017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errand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3456432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Title, category, stops, budget. Done in under 2 minutes.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2286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2468880" y="182880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78608" y="19385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2331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🏍️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3017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Runner accepts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3456432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Verified runners bid or instantly accept. You pick by rating + ETA.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2286000"/>
            <a:ext cx="2286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4617720" y="182880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19385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27448" y="2331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27448" y="3017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live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27448" y="3456432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Status updates, chat, and location — the whole way through.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82880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76288" y="19385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76288" y="2331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76288" y="3017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OTP confirms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76288" y="3456432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Share a 6-digit code. Runner enters it. Errand officially complete.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6A00"/>
                </a:solidFill>
              </a:rPr>
              <a:t>MVP operates without in-app payments — clients pay runners directly (M-Pesa / cash). Escrow launches post-funding.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earn when runners earn.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2918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320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A0A0A"/>
                </a:solidFill>
              </a:rPr>
              <a:t>PHASE 1 — MVP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993392"/>
            <a:ext cx="109728" cy="10972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coordination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3042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B9486"/>
                </a:solidFill>
              </a:rPr>
              <a:t>Build the user base, validate demand. Payments off-platform.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" y="3364992"/>
            <a:ext cx="109728" cy="10972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reputation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36758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B9486"/>
                </a:solidFill>
              </a:rPr>
              <a:t>OTP delivery, ratings — the platform's core value proposition.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2651760" cy="32918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417320"/>
            <a:ext cx="2651760" cy="320040"/>
          </a:xfrm>
          <a:prstGeom prst="rect">
            <a:avLst/>
          </a:prstGeom>
          <a:solidFill>
            <a:srgbClr val="2D9B6A"/>
          </a:solidFill>
          <a:ln w="12700">
            <a:solidFill>
              <a:srgbClr val="2D9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2 — POST-FUNDING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02152" y="1993392"/>
            <a:ext cx="109728" cy="109728"/>
          </a:xfrm>
          <a:prstGeom prst="ellipse">
            <a:avLst/>
          </a:prstGeom>
          <a:solidFill>
            <a:srgbClr val="2D9B6A"/>
          </a:solidFill>
          <a:ln w="12700">
            <a:solidFill>
              <a:srgbClr val="2D9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10-20% commission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02152" y="23042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B9486"/>
                </a:solidFill>
              </a:rPr>
              <a:t>Deducted per completed errand via in-app escrow (M-Pesa STK).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02152" y="3364992"/>
            <a:ext cx="109728" cy="109728"/>
          </a:xfrm>
          <a:prstGeom prst="ellipse">
            <a:avLst/>
          </a:prstGeom>
          <a:solidFill>
            <a:srgbClr val="2D9B6A"/>
          </a:solidFill>
          <a:ln w="12700">
            <a:solidFill>
              <a:srgbClr val="2D9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Promoted errands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2152" y="36758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B9486"/>
                </a:solidFill>
              </a:rPr>
              <a:t>Clients pay to boost errand visibility in runner feeds.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2651760" cy="32918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417320"/>
            <a:ext cx="2651760" cy="320040"/>
          </a:xfrm>
          <a:prstGeom prst="rect">
            <a:avLst/>
          </a:prstGeom>
          <a:solidFill>
            <a:srgbClr val="7B8FE0"/>
          </a:solidFill>
          <a:ln w="12700">
            <a:solidFill>
              <a:srgbClr val="7B8F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3 — SCALE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82512" y="1993392"/>
            <a:ext cx="109728" cy="109728"/>
          </a:xfrm>
          <a:prstGeom prst="ellipse">
            <a:avLst/>
          </a:prstGeom>
          <a:solidFill>
            <a:srgbClr val="7B8FE0"/>
          </a:solidFill>
          <a:ln w="12700">
            <a:solidFill>
              <a:srgbClr val="7B8F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accounts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82512" y="23042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B9486"/>
                </a:solidFill>
              </a:rPr>
              <a:t>Monthly SaaS fee for high-volume clients (boutiques, offices).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82512" y="3364992"/>
            <a:ext cx="109728" cy="109728"/>
          </a:xfrm>
          <a:prstGeom prst="ellipse">
            <a:avLst/>
          </a:prstGeom>
          <a:solidFill>
            <a:srgbClr val="7B8FE0"/>
          </a:solidFill>
          <a:ln w="12700">
            <a:solidFill>
              <a:srgbClr val="7B8F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runners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36758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B9486"/>
                </a:solidFill>
              </a:rPr>
              <a:t>Subscription for priority listing, verified badge, and SLA jobs.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486"/>
                </a:solidFill>
              </a:rPr>
              <a:t>Est. Avg Errand Value: KES 500–1,500  ·  Commission: KES 50–300  ·  Target: 500 errands/day by Month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TRACTION &amp;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going.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45720" cy="2926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</a:rPr>
              <a:t>STATUS TODAY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A0A"/>
                </a:solidFill>
              </a:rPr>
              <a:t>✅  Full backend schema designed (Go + PostgreSQL)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679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A0A"/>
                </a:solidFill>
              </a:rPr>
              <a:t>✅  Mobile UI built (Flutter — client + runner apps)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02666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A0A"/>
                </a:solidFill>
              </a:rPr>
              <a:t>✅  OTP delivery system implemented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3741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A0A"/>
                </a:solidFill>
              </a:rPr>
              <a:t>✅  Auth, profiles, errand flow, bidding complete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7216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0A0A"/>
                </a:solidFill>
              </a:rPr>
              <a:t>✅  Admin panel in progress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069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FE0"/>
                </a:solidFill>
              </a:rPr>
              <a:t>🔄  Pilot testing with 20 beta users in Nairobi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057400"/>
            <a:ext cx="164592" cy="16459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45736" y="2221992"/>
            <a:ext cx="0" cy="576072"/>
          </a:xfrm>
          <a:prstGeom prst="line">
            <a:avLst/>
          </a:prstGeom>
          <a:noFill/>
          <a:ln w="12700">
            <a:solidFill>
              <a:srgbClr val="D0C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202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4A843"/>
                </a:solidFill>
              </a:rPr>
              <a:t>Q2 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Launch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Nairobi soft launch. 50+ runners onboarded.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807208"/>
            <a:ext cx="164592" cy="164592"/>
          </a:xfrm>
          <a:prstGeom prst="ellipse">
            <a:avLst/>
          </a:prstGeom>
          <a:solidFill>
            <a:srgbClr val="7B8FE0"/>
          </a:solidFill>
          <a:ln w="12700">
            <a:solidFill>
              <a:srgbClr val="7B8F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2971800"/>
            <a:ext cx="0" cy="576072"/>
          </a:xfrm>
          <a:prstGeom prst="line">
            <a:avLst/>
          </a:prstGeom>
          <a:noFill/>
          <a:ln w="1270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700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B8FE0"/>
                </a:solidFill>
              </a:rPr>
              <a:t>Q3 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2898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M-Pesa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1272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In-app escrow + commission engine live.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557016"/>
            <a:ext cx="164592" cy="164592"/>
          </a:xfrm>
          <a:prstGeom prst="ellipse">
            <a:avLst/>
          </a:prstGeom>
          <a:solidFill>
            <a:srgbClr val="2D9B6A"/>
          </a:solidFill>
          <a:ln w="12700">
            <a:solidFill>
              <a:srgbClr val="2D9B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5736" y="3721608"/>
            <a:ext cx="0" cy="576072"/>
          </a:xfrm>
          <a:prstGeom prst="line">
            <a:avLst/>
          </a:prstGeom>
          <a:noFill/>
          <a:ln w="12700">
            <a:solidFill>
              <a:srgbClr val="D0C8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4198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D9B6A"/>
                </a:solidFill>
              </a:rPr>
              <a:t>Q4 2026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37760" y="3648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Countrywide Expansion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877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Kisumu, Mombasa, Nakuru, Eldoret.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4306824"/>
            <a:ext cx="164592" cy="164592"/>
          </a:xfrm>
          <a:prstGeom prst="ellipse">
            <a:avLst/>
          </a:prstGeom>
          <a:solidFill>
            <a:srgbClr val="E0904A"/>
          </a:solidFill>
          <a:ln w="12700">
            <a:solidFill>
              <a:srgbClr val="E090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169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0904A"/>
                </a:solidFill>
              </a:rPr>
              <a:t>Q1 2027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37760" y="4398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Tier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626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SaaS accounts for high-volume SME clients.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Kenya.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adapted for it.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0" y="1664208"/>
            <a:ext cx="141732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06040" y="169164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A0A0A"/>
                </a:solidFill>
              </a:rPr>
              <a:t>ChukuaGo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77640" y="169164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5F0E8"/>
                </a:solidFill>
              </a:rPr>
              <a:t>Glovo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0" y="169164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5F0E8"/>
                </a:solidFill>
              </a:rPr>
              <a:t>WhatsApp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50" kern="0" dirty="0">
                <a:solidFill>
                  <a:srgbClr val="F5F0E8"/>
                </a:solidFill>
              </a:rPr>
              <a:t>Groups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29400" y="169164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5F0E8"/>
                </a:solidFill>
              </a:rPr>
              <a:t>Boda Rider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50" kern="0" dirty="0">
                <a:solidFill>
                  <a:srgbClr val="F5F0E8"/>
                </a:solidFill>
              </a:rPr>
              <a:t>(informal)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7498080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011680"/>
            <a:ext cx="141732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381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0E8"/>
                </a:solidFill>
              </a:rPr>
              <a:t>KYC-verified runners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02996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00"/>
                </a:solidFill>
              </a:rPr>
              <a:t>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202996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B6A"/>
                </a:solidFill>
              </a:rPr>
              <a:t>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02996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202996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7498080" cy="34747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359152"/>
            <a:ext cx="141732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381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774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0E8"/>
                </a:solidFill>
              </a:rPr>
              <a:t>OTP proof of delivery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37744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00"/>
                </a:solidFill>
              </a:rPr>
              <a:t>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237744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237744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37744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706624"/>
            <a:ext cx="7498080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706624"/>
            <a:ext cx="141732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381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2491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0E8"/>
                </a:solidFill>
              </a:rPr>
              <a:t>Flexible errand types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272491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00"/>
                </a:solidFill>
              </a:rPr>
              <a:t>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272491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486"/>
                </a:solidFill>
              </a:rPr>
              <a:t>Partial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72491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B6A"/>
                </a:solidFill>
              </a:rPr>
              <a:t>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272491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B6A"/>
                </a:solidFill>
              </a:rPr>
              <a:t>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054096"/>
            <a:ext cx="7498080" cy="34747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3054096"/>
            <a:ext cx="141732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381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0723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0E8"/>
                </a:solidFill>
              </a:rPr>
              <a:t>In-app chat + tracking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307238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00"/>
                </a:solidFill>
              </a:rPr>
              <a:t>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77640" y="307238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07238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307238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401568"/>
            <a:ext cx="7498080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3401568"/>
            <a:ext cx="141732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381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41985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0E8"/>
                </a:solidFill>
              </a:rPr>
              <a:t>Ratings &amp; reputation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06040" y="341985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00"/>
                </a:solidFill>
              </a:rPr>
              <a:t>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77640" y="341985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B6A"/>
                </a:solidFill>
              </a:rPr>
              <a:t>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341985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29400" y="341985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749040"/>
            <a:ext cx="7498080" cy="347472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0" y="3749040"/>
            <a:ext cx="141732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381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7673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0E8"/>
                </a:solidFill>
              </a:rPr>
              <a:t>Countrywide coverage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606040" y="376732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77640" y="376732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486"/>
                </a:solidFill>
              </a:rPr>
              <a:t>Major cities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76732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B6A"/>
                </a:solidFill>
              </a:rPr>
              <a:t>✅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29400" y="376732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486"/>
                </a:solidFill>
              </a:rPr>
              <a:t>Local only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096512"/>
            <a:ext cx="7498080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0" y="4096512"/>
            <a:ext cx="141732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381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1148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0E8"/>
                </a:solidFill>
              </a:rPr>
              <a:t>Multi-stop errands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606040" y="411480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00"/>
                </a:solidFill>
              </a:rPr>
              <a:t>✅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977640" y="411480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0" y="411480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29400" y="411480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444"/>
                </a:solidFill>
              </a:rPr>
              <a:t>❌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someone who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knows this market.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4747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" cy="28346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11680"/>
            <a:ext cx="822960" cy="82296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</a:rPr>
              <a:t>Founder &amp; CTO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85292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</a:rPr>
              <a:t>· 5 years fullstack + AI engineering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1729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</a:rPr>
              <a:t>· Go, Python, Flutter, PostgreSQL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49300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</a:rPr>
              <a:t>· Built production backends on AWS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</a:rPr>
              <a:t>· AI/LLM engineering (Turing platform)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41330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40"/>
                </a:solidFill>
              </a:rPr>
              <a:t>· Nairobi-based, building for Kenya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965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toward: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0EBE0"/>
          </a:solidFill>
          <a:ln w="6350">
            <a:solidFill>
              <a:srgbClr val="D8D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Head of Growth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9900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</a:rPr>
              <a:t>Runner acquisition &amp; client partnerships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3364992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0EBE0"/>
          </a:solidFill>
          <a:ln w="6350">
            <a:solidFill>
              <a:srgbClr val="D8D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410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Operations Lead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</a:rPr>
              <a:t>KYC pipeline, dispute resolution, quality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3986784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0EBE0"/>
          </a:solidFill>
          <a:ln w="6350">
            <a:solidFill>
              <a:srgbClr val="D8D0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0325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Mobile Engineer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42336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</a:rPr>
              <a:t>Flutter — client &amp; runner app polish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$150,000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9486"/>
                </a:solidFill>
              </a:rPr>
              <a:t>Pre-seed, Convertible Note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9486"/>
                </a:solidFill>
              </a:rPr>
              <a:t>18-month runway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9992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2004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6"/>
                </a:solidFill>
              </a:rPr>
              <a:t>Mobile polish, escrow, M-Pesa integration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447288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474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Runner Acquisition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6758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6"/>
                </a:solidFill>
              </a:rPr>
              <a:t>KYC pipeline, onboarding, runner incentives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922776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950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15137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6"/>
                </a:solidFill>
              </a:rPr>
              <a:t>Support, dispute resolution, quality ops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398264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4256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Marketing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6268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6"/>
                </a:solidFill>
              </a:rPr>
              <a:t>Client acquisition — Nairobi 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594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unlocks: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</a:rPr>
              <a:t>🚀  Full MVP launch, Nairobi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203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</a:rPr>
              <a:t>🏍️  200+ verified runners onboarded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7157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</a:rPr>
              <a:t>💰  M-Pesa escrow live (Month 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2278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</a:rPr>
              <a:t>📈  500 errands/day by Month 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373989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</a:rPr>
              <a:t>🌍  3 new cities by Month 12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4251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</a:rPr>
              <a:t>📊  Series A ready — Month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6400800" cy="6400800"/>
          </a:xfrm>
          <a:prstGeom prst="ellipse">
            <a:avLst/>
          </a:prstGeom>
          <a:solidFill>
            <a:srgbClr val="D4A843">
              <a:alpha val="6000"/>
            </a:srgbClr>
          </a:solidFill>
          <a:ln w="6350">
            <a:solidFill>
              <a:srgbClr val="D4A84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-731520"/>
            <a:ext cx="5029200" cy="5029200"/>
          </a:xfrm>
          <a:prstGeom prst="ellipse">
            <a:avLst/>
          </a:prstGeom>
          <a:solidFill>
            <a:srgbClr val="D4A843">
              <a:alpha val="3000"/>
            </a:srgbClr>
          </a:solidFill>
          <a:ln w="6350">
            <a:solidFill>
              <a:srgbClr val="D4A843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moves fast.
</a:t>
            </a:r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Chukua</a:t>
            </a:r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ChukuaGo — Kenya's errand marketplace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hello@chukuago.co  ·  chukuago.co  ·  Nairobi, Kenya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9486"/>
                </a:solidFill>
              </a:rPr>
              <a:t>Let's talk.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ChukuaGo — Investor Pitch</dc:title>
  <dc:subject>PptxGenJS Presentation</dc:subject>
  <dc:creator>ChukuaGo</dc:creator>
  <cp:lastModifiedBy>ChukuaGo</cp:lastModifiedBy>
  <cp:revision>1</cp:revision>
  <dcterms:created xsi:type="dcterms:W3CDTF">2026-04-04T09:46:22Z</dcterms:created>
  <dcterms:modified xsi:type="dcterms:W3CDTF">2026-04-04T09:46:22Z</dcterms:modified>
</cp:coreProperties>
</file>